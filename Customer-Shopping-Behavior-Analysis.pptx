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DM Serif Display"/>
      <p:regular r:id="rId201314"/>
    </p:embeddedFont>
    <p:embeddedFont>
      <p:font typeface="Schibsted Grotesk"/>
      <p:regular r:id="rId201315"/>
    </p:embeddedFont>
    <p:embeddedFont>
      <p:font typeface="Schibsted Grotesk Medium"/>
      <p:regular r:id="rId201316"/>
    </p:embeddedFont>
    <p:embeddedFont>
      <p:font typeface="Schibsted Grotesk SemiBold"/>
      <p:regular r:id="rId201317"/>
    </p:embeddedFont>
    <p:embeddedFont>
      <p:font typeface="Schibsted Grotesk Bold"/>
      <p:regular r:id="rId2013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Relationship Id="rId201318" Target="fonts/201318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scope of the customer shopping analysis covering 3,900 transactions. Highlight the core goal: translating purchase patterns into commercial growth.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 the size and cleanliness of the source dataset: 3,900 records across 18 features, with only 37 missing ratings requiring imputation.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five preparation phases: loading raw files, exploratory profiling, category-median imputation, feature engineering, and database export.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male revenue dominance ($157,890 vs $75,191) and explain the opportunity to close the gap through female-targeted campaigns.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 the 839 smart shoppers who used promo codes yet beat the average order amount. Recommend premium thresholded discounts to preserve margins.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Express: $60.48 average purchase. Standard: $58.46 average purchase.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Analyze subscriber dynamics: average ticket is virtually identical ($59.49 vs $59.87), but 91% of subscribers become heavy repeat buyers (over 5 orders).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Synthesize product discount reliance (Hats 50%, Sneakers 49.66%) with revenue across age tiers (Young Adults leading at $62,143), guiding promotional efficiency.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FFB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567055"/>
            <a:ext cx="6603835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spc="13" kern="100" dirty="0">
                <a:solidFill>
                  <a:srgbClr val="CC7F00"/>
                </a:solidFill>
                <a:latin typeface="Schibsted Grotesk Medium" pitchFamily="34" charset="0"/>
                <a:ea typeface="Schibsted Grotesk Medium" pitchFamily="34" charset="-122"/>
                <a:cs typeface="Schibsted Grotesk Medium" pitchFamily="34" charset="-120"/>
              </a:rPr>
              <a:t>RETAIL INTELLIGENCE ·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11182" y="952671"/>
            <a:ext cx="5994250" cy="1347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00" spc="-78" kern="100" dirty="0">
                <a:solidFill>
                  <a:srgbClr val="2B1D12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Customer Shopping</a:t>
            </a:r>
            <a:endParaRPr lang="en-US" sz="52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5200" spc="-78" kern="100" dirty="0">
                <a:solidFill>
                  <a:srgbClr val="2B1D12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Behavior Analysis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11182" y="2517477"/>
            <a:ext cx="5994250" cy="662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80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Uncovering insights from 3,900 purchases to guide strategic business decisions.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1182" y="5920780"/>
            <a:ext cx="3548569" cy="429220"/>
          </a:xfrm>
          <a:prstGeom prst="roundRect">
            <a:avLst>
              <a:gd name="adj" fmla="val 49999"/>
            </a:avLst>
          </a:prstGeom>
          <a:solidFill>
            <a:srgbClr val="FFB53B"/>
          </a:solidFill>
          <a:ln/>
        </p:spPr>
      </p:sp>
      <p:sp>
        <p:nvSpPr>
          <p:cNvPr id="6" name="Text 4"/>
          <p:cNvSpPr/>
          <p:nvPr/>
        </p:nvSpPr>
        <p:spPr>
          <a:xfrm>
            <a:off x="888978" y="6021668"/>
            <a:ext cx="3802563" cy="251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3,900 transactions analyzed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017" y="0"/>
            <a:ext cx="4876678" cy="6858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76838" y="304800"/>
            <a:ext cx="2031949" cy="2032000"/>
          </a:xfrm>
          <a:custGeom>
            <a:avLst/>
            <a:gdLst/>
            <a:ahLst/>
            <a:cxnLst/>
            <a:rect l="l" t="t" r="r" b="b"/>
            <a:pathLst>
              <a:path w="2031949" h="2032000">
                <a:moveTo>
                  <a:pt x="1015975" y="0"/>
                </a:moveTo>
                <a:lnTo>
                  <a:pt x="1231361" y="211328"/>
                </a:lnTo>
                <a:lnTo>
                  <a:pt x="1523962" y="136144"/>
                </a:lnTo>
                <a:lnTo>
                  <a:pt x="1605240" y="426720"/>
                </a:lnTo>
                <a:lnTo>
                  <a:pt x="1895809" y="508000"/>
                </a:lnTo>
                <a:lnTo>
                  <a:pt x="1820626" y="800608"/>
                </a:lnTo>
                <a:lnTo>
                  <a:pt x="2031949" y="1016000"/>
                </a:lnTo>
                <a:lnTo>
                  <a:pt x="1820626" y="1231392"/>
                </a:lnTo>
                <a:lnTo>
                  <a:pt x="1895809" y="1524000"/>
                </a:lnTo>
                <a:lnTo>
                  <a:pt x="1605240" y="1605280"/>
                </a:lnTo>
                <a:lnTo>
                  <a:pt x="1523962" y="1895856"/>
                </a:lnTo>
                <a:lnTo>
                  <a:pt x="1231361" y="1820672"/>
                </a:lnTo>
                <a:lnTo>
                  <a:pt x="1015975" y="2032000"/>
                </a:lnTo>
                <a:lnTo>
                  <a:pt x="800588" y="1820672"/>
                </a:lnTo>
                <a:lnTo>
                  <a:pt x="507987" y="1895856"/>
                </a:lnTo>
                <a:lnTo>
                  <a:pt x="426709" y="1605280"/>
                </a:lnTo>
                <a:lnTo>
                  <a:pt x="136141" y="1524000"/>
                </a:lnTo>
                <a:lnTo>
                  <a:pt x="211323" y="1231392"/>
                </a:lnTo>
                <a:lnTo>
                  <a:pt x="0" y="1016000"/>
                </a:lnTo>
                <a:lnTo>
                  <a:pt x="211323" y="800608"/>
                </a:lnTo>
                <a:lnTo>
                  <a:pt x="136141" y="508000"/>
                </a:lnTo>
                <a:lnTo>
                  <a:pt x="426709" y="426720"/>
                </a:lnTo>
                <a:lnTo>
                  <a:pt x="507987" y="136144"/>
                </a:lnTo>
                <a:lnTo>
                  <a:pt x="800588" y="211328"/>
                </a:lnTo>
                <a:close/>
              </a:path>
            </a:pathLst>
          </a:custGeom>
          <a:solidFill>
            <a:srgbClr val="FFB53B"/>
          </a:solidFill>
          <a:ln/>
        </p:spPr>
      </p:sp>
      <p:sp>
        <p:nvSpPr>
          <p:cNvPr id="9" name="Text 6"/>
          <p:cNvSpPr/>
          <p:nvPr/>
        </p:nvSpPr>
        <p:spPr>
          <a:xfrm>
            <a:off x="6229194" y="974725"/>
            <a:ext cx="2527237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2800" spc="-56" kern="100" dirty="0">
                <a:solidFill>
                  <a:srgbClr val="000000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3,900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229194" y="1566926"/>
            <a:ext cx="252723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1200" spc="-24" kern="100" dirty="0">
                <a:solidFill>
                  <a:srgbClr val="000000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records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668655"/>
            <a:ext cx="6603835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spc="13" kern="100" dirty="0">
                <a:solidFill>
                  <a:srgbClr val="CC7F00"/>
                </a:solidFill>
                <a:latin typeface="Schibsted Grotesk Medium" pitchFamily="34" charset="0"/>
                <a:ea typeface="Schibsted Grotesk Medium" pitchFamily="34" charset="-122"/>
                <a:cs typeface="Schibsted Grotesk Medium" pitchFamily="34" charset="-120"/>
              </a:rPr>
              <a:t>FOUNDATION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11182" y="1032935"/>
            <a:ext cx="6045049" cy="492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00" spc="-57" kern="100" dirty="0">
                <a:solidFill>
                  <a:srgbClr val="2B1D12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Dataset Overview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11182" y="1894185"/>
            <a:ext cx="6045049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3,900 rows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1182" y="2464098"/>
            <a:ext cx="6045049" cy="331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80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of purchase data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11182" y="3396952"/>
            <a:ext cx="6045049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18 columns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11182" y="3966865"/>
            <a:ext cx="6045049" cy="662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80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covering demographics, purchase details and shopping behavior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1182" y="5231209"/>
            <a:ext cx="6045049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37 missing values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82" y="5801122"/>
            <a:ext cx="6045049" cy="331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80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all in Review Rating</a:t>
            </a:r>
            <a:endParaRPr lang="en-US" sz="18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017" y="0"/>
            <a:ext cx="4876678" cy="68580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11182" y="3082727"/>
            <a:ext cx="6045049" cy="12700"/>
          </a:xfrm>
          <a:prstGeom prst="rect">
            <a:avLst/>
          </a:prstGeom>
          <a:solidFill>
            <a:srgbClr val="E5D3B8"/>
          </a:solidFill>
          <a:ln/>
        </p:spPr>
      </p:sp>
      <p:sp>
        <p:nvSpPr>
          <p:cNvPr id="12" name="Shape 9"/>
          <p:cNvSpPr/>
          <p:nvPr/>
        </p:nvSpPr>
        <p:spPr>
          <a:xfrm>
            <a:off x="711182" y="4916984"/>
            <a:ext cx="6045049" cy="12700"/>
          </a:xfrm>
          <a:prstGeom prst="rect">
            <a:avLst/>
          </a:prstGeom>
          <a:solidFill>
            <a:srgbClr val="E5D3B8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617855"/>
            <a:ext cx="11378915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spc="13" kern="100" dirty="0">
                <a:solidFill>
                  <a:srgbClr val="CC7F00"/>
                </a:solidFill>
                <a:latin typeface="Schibsted Grotesk Medium" pitchFamily="34" charset="0"/>
                <a:ea typeface="Schibsted Grotesk Medium" pitchFamily="34" charset="-122"/>
                <a:cs typeface="Schibsted Grotesk Medium" pitchFamily="34" charset="-120"/>
              </a:rPr>
              <a:t>PIPELINE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11182" y="982135"/>
            <a:ext cx="10769331" cy="492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00" spc="-57" kern="100" dirty="0">
                <a:solidFill>
                  <a:srgbClr val="2B1D12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Data Preparation Process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11182" y="1633934"/>
            <a:ext cx="840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800" dirty="0">
                <a:solidFill>
                  <a:srgbClr val="FFB53B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1182" y="1954014"/>
            <a:ext cx="1909913" cy="19050"/>
          </a:xfrm>
          <a:prstGeom prst="rect">
            <a:avLst/>
          </a:prstGeom>
          <a:solidFill>
            <a:srgbClr val="FFB53B"/>
          </a:solidFill>
          <a:ln/>
        </p:spPr>
      </p:sp>
      <p:sp>
        <p:nvSpPr>
          <p:cNvPr id="6" name="Text 4"/>
          <p:cNvSpPr/>
          <p:nvPr/>
        </p:nvSpPr>
        <p:spPr>
          <a:xfrm>
            <a:off x="711182" y="2166243"/>
            <a:ext cx="1910012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Data Loading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11182" y="2660829"/>
            <a:ext cx="1910012" cy="1141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Imported raw CSV transaction files directly via Python pandas dataframes.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2925888" y="1633934"/>
            <a:ext cx="886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800" dirty="0">
                <a:solidFill>
                  <a:srgbClr val="FFB53B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925888" y="1954014"/>
            <a:ext cx="1910112" cy="19050"/>
          </a:xfrm>
          <a:prstGeom prst="rect">
            <a:avLst/>
          </a:prstGeom>
          <a:solidFill>
            <a:srgbClr val="FFB53B"/>
          </a:solidFill>
          <a:ln/>
        </p:spPr>
      </p:sp>
      <p:sp>
        <p:nvSpPr>
          <p:cNvPr id="10" name="Text 8"/>
          <p:cNvSpPr/>
          <p:nvPr/>
        </p:nvSpPr>
        <p:spPr>
          <a:xfrm>
            <a:off x="2925888" y="2166243"/>
            <a:ext cx="1910112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Initial Exploration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925888" y="2962454"/>
            <a:ext cx="1910112" cy="1426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Validated structural schema, type integrity, and baseline summary statistics.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140692" y="1633934"/>
            <a:ext cx="88848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800" dirty="0">
                <a:solidFill>
                  <a:srgbClr val="FFB53B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140692" y="1954014"/>
            <a:ext cx="1910112" cy="19050"/>
          </a:xfrm>
          <a:prstGeom prst="rect">
            <a:avLst/>
          </a:prstGeom>
          <a:solidFill>
            <a:srgbClr val="FFB53B"/>
          </a:solidFill>
          <a:ln/>
        </p:spPr>
      </p:sp>
      <p:sp>
        <p:nvSpPr>
          <p:cNvPr id="14" name="Text 12"/>
          <p:cNvSpPr/>
          <p:nvPr/>
        </p:nvSpPr>
        <p:spPr>
          <a:xfrm>
            <a:off x="5140692" y="2166243"/>
            <a:ext cx="1910211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Missing Handling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140692" y="2962454"/>
            <a:ext cx="1910211" cy="1426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Imputed 37 missing Review Ratings using the median of each product category.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7355596" y="1633934"/>
            <a:ext cx="8924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800" dirty="0">
                <a:solidFill>
                  <a:srgbClr val="FFB53B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355596" y="1954014"/>
            <a:ext cx="1910112" cy="19050"/>
          </a:xfrm>
          <a:prstGeom prst="rect">
            <a:avLst/>
          </a:prstGeom>
          <a:solidFill>
            <a:srgbClr val="FFB53B"/>
          </a:solidFill>
          <a:ln/>
        </p:spPr>
      </p:sp>
      <p:sp>
        <p:nvSpPr>
          <p:cNvPr id="18" name="Text 16"/>
          <p:cNvSpPr/>
          <p:nvPr/>
        </p:nvSpPr>
        <p:spPr>
          <a:xfrm>
            <a:off x="7355596" y="2166243"/>
            <a:ext cx="1910112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Feature Engineering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355596" y="2962454"/>
            <a:ext cx="1910112" cy="199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Derived age_group and purchase_frequency_days; formatted snake_case and removed redundant promo_code_used.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570401" y="1633934"/>
            <a:ext cx="8939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800" dirty="0">
                <a:solidFill>
                  <a:srgbClr val="FFB53B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570401" y="1954014"/>
            <a:ext cx="1909913" cy="19050"/>
          </a:xfrm>
          <a:prstGeom prst="rect">
            <a:avLst/>
          </a:prstGeom>
          <a:solidFill>
            <a:srgbClr val="FFB53B"/>
          </a:solidFill>
          <a:ln/>
        </p:spPr>
      </p:sp>
      <p:sp>
        <p:nvSpPr>
          <p:cNvPr id="22" name="Text 20"/>
          <p:cNvSpPr/>
          <p:nvPr/>
        </p:nvSpPr>
        <p:spPr>
          <a:xfrm>
            <a:off x="9570401" y="2166243"/>
            <a:ext cx="1910012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DB Integration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570401" y="2660829"/>
            <a:ext cx="1910012" cy="1141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Loaded curated tabular models into PostgreSQL for production querying.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11182" y="6037659"/>
            <a:ext cx="7721407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A6552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ETL pipeline built in Python 3.11 and PostgreSQL · validated against 3,900 transaction records.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779681"/>
            <a:ext cx="6918846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spc="13" kern="100" dirty="0">
                <a:solidFill>
                  <a:srgbClr val="CC7F00"/>
                </a:solidFill>
                <a:latin typeface="Schibsted Grotesk Medium" pitchFamily="34" charset="0"/>
                <a:ea typeface="Schibsted Grotesk Medium" pitchFamily="34" charset="-122"/>
                <a:cs typeface="Schibsted Grotesk Medium" pitchFamily="34" charset="-120"/>
              </a:rPr>
              <a:t>DEMOGRAPHIC REVENUE SPLIT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1143960"/>
            <a:ext cx="6309262" cy="1476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00" spc="-57" kern="100" dirty="0">
                <a:solidFill>
                  <a:srgbClr val="2B1D12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Male customers generate more than twice the revenue of female customers</a:t>
            </a:r>
            <a:endParaRPr lang="en-US" sz="3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2729409"/>
            <a:ext cx="6309262" cy="302845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9585" y="5875734"/>
            <a:ext cx="6918846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A6552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Total gross revenue across 3,900 purchases: $233,081.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8442709" y="904974"/>
            <a:ext cx="2814468" cy="429220"/>
          </a:xfrm>
          <a:prstGeom prst="roundRect">
            <a:avLst>
              <a:gd name="adj" fmla="val 49999"/>
            </a:avLst>
          </a:prstGeom>
          <a:solidFill>
            <a:srgbClr val="FFB53B"/>
          </a:solidFill>
          <a:ln/>
        </p:spPr>
      </p:sp>
      <p:sp>
        <p:nvSpPr>
          <p:cNvPr id="7" name="Text 4"/>
          <p:cNvSpPr/>
          <p:nvPr/>
        </p:nvSpPr>
        <p:spPr>
          <a:xfrm>
            <a:off x="8620505" y="1005863"/>
            <a:ext cx="3068462" cy="251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2.1x revenue multiple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442709" y="1540966"/>
            <a:ext cx="313940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A6552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MALE SEGMENT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42709" y="2052316"/>
            <a:ext cx="3139401" cy="423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spc="-68" kern="100" dirty="0">
                <a:solidFill>
                  <a:srgbClr val="CC7F00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$157,890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442709" y="2711430"/>
            <a:ext cx="3139401" cy="8560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67.7% of total portfolio revenue, driven by higher transaction volume.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442709" y="3926582"/>
            <a:ext cx="313940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A6552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FEMALE SEGMENT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42709" y="4437932"/>
            <a:ext cx="3139401" cy="423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spc="-68" kern="100" dirty="0">
                <a:solidFill>
                  <a:srgbClr val="2B1D12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$75,191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442709" y="5097046"/>
            <a:ext cx="3139401" cy="8560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32.3% of portfolio revenue; clear expansion opportunity via tailored marketing.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8442709" y="3738860"/>
            <a:ext cx="3139401" cy="12700"/>
          </a:xfrm>
          <a:prstGeom prst="rect">
            <a:avLst/>
          </a:prstGeom>
          <a:solidFill>
            <a:srgbClr val="E5D3B8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725361"/>
            <a:ext cx="6857828" cy="1347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00" spc="-78" kern="100" dirty="0">
                <a:solidFill>
                  <a:srgbClr val="2B1D12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High-Value Discount Users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11182" y="2341602"/>
            <a:ext cx="6857828" cy="7467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6000" spc="-120" kern="100" dirty="0">
                <a:solidFill>
                  <a:srgbClr val="2B1D12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839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11182" y="3290888"/>
            <a:ext cx="6857828" cy="21649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spcAft>
                <a:spcPts val="1950"/>
              </a:spcAft>
              <a:buNone/>
            </a:pPr>
            <a:r>
              <a:rPr lang="en-US" sz="180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customers used a discount yet spent above the average purchase amount</a:t>
            </a:r>
            <a:endParaRPr lang="en-US" sz="1800" dirty="0"/>
          </a:p>
          <a:p>
            <a:pPr algn="l" indent="0" marL="0">
              <a:lnSpc>
                <a:spcPct val="121000"/>
              </a:lnSpc>
              <a:spcAft>
                <a:spcPts val="1950"/>
              </a:spcAft>
              <a:buNone/>
            </a:pPr>
            <a:r>
              <a:rPr lang="en-US" sz="180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Smart shoppers: high spenders who maximize value with discounts</a:t>
            </a:r>
            <a:endParaRPr lang="en-US" sz="1800" dirty="0"/>
          </a:p>
          <a:p>
            <a:pPr algn="l" indent="0" marL="0">
              <a:lnSpc>
                <a:spcPct val="121000"/>
              </a:lnSpc>
              <a:buNone/>
            </a:pPr>
            <a:r>
              <a:rPr lang="en-US" sz="180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Opportunity: target these customers with exclusive offers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7797" y="0"/>
            <a:ext cx="406389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1414828"/>
            <a:ext cx="10769331" cy="492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00" spc="-57" kern="100" dirty="0">
                <a:solidFill>
                  <a:srgbClr val="2B1D12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Top-Rated Products</a:t>
            </a:r>
            <a:endParaRPr lang="en-US" sz="3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1182" y="2146002"/>
          <a:ext cx="10769331" cy="914400"/>
        </p:xfrm>
        <a:graphic>
          <a:graphicData uri="http://schemas.openxmlformats.org/drawingml/2006/table">
            <a:tbl>
              <a:tblPr/>
              <a:tblGrid>
                <a:gridCol w="6676957"/>
                <a:gridCol w="4092373"/>
              </a:tblGrid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7A6552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Product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7A6552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Rating (out of 5.0)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Gloves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CC7F00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3.86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Sandals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CC7F00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3.84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Boots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CC7F00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3.82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Hat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CC7F00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3.80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99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Skirt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CC7F00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3.78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76678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263" y="1320177"/>
            <a:ext cx="5994250" cy="2020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00" spc="-78" kern="100" dirty="0">
                <a:solidFill>
                  <a:srgbClr val="2B1D12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Express shipping customers spend slightly more</a:t>
            </a:r>
            <a:endParaRPr lang="en-US" sz="5200" dirty="0"/>
          </a:p>
        </p:txBody>
      </p:sp>
      <p:sp>
        <p:nvSpPr>
          <p:cNvPr id="4" name="Shape 1"/>
          <p:cNvSpPr/>
          <p:nvPr/>
        </p:nvSpPr>
        <p:spPr>
          <a:xfrm>
            <a:off x="5486263" y="3558580"/>
            <a:ext cx="2844729" cy="38100"/>
          </a:xfrm>
          <a:prstGeom prst="rect">
            <a:avLst/>
          </a:prstGeom>
          <a:solidFill>
            <a:srgbClr val="FFB53B"/>
          </a:solidFill>
          <a:ln/>
        </p:spPr>
      </p:sp>
      <p:sp>
        <p:nvSpPr>
          <p:cNvPr id="5" name="Text 2"/>
          <p:cNvSpPr/>
          <p:nvPr/>
        </p:nvSpPr>
        <p:spPr>
          <a:xfrm>
            <a:off x="5714857" y="3888399"/>
            <a:ext cx="2387540" cy="547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4400" spc="-88" kern="1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$60.48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714857" y="4548287"/>
            <a:ext cx="2387540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spc="-38" kern="1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Express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714857" y="5042793"/>
            <a:ext cx="2616135" cy="331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80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average purchase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635784" y="3558580"/>
            <a:ext cx="2844729" cy="38100"/>
          </a:xfrm>
          <a:prstGeom prst="rect">
            <a:avLst/>
          </a:prstGeom>
          <a:solidFill>
            <a:srgbClr val="FFB53B"/>
          </a:solidFill>
          <a:ln/>
        </p:spPr>
      </p:sp>
      <p:sp>
        <p:nvSpPr>
          <p:cNvPr id="9" name="Text 6"/>
          <p:cNvSpPr/>
          <p:nvPr/>
        </p:nvSpPr>
        <p:spPr>
          <a:xfrm>
            <a:off x="8864378" y="3888399"/>
            <a:ext cx="2387540" cy="547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4400" spc="-88" kern="1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$58.46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864378" y="4548287"/>
            <a:ext cx="2387540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spc="-38" kern="1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Standard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864378" y="5042793"/>
            <a:ext cx="2616135" cy="331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80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average purchase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617855"/>
            <a:ext cx="11378915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spc="13" kern="100" dirty="0">
                <a:solidFill>
                  <a:srgbClr val="588514"/>
                </a:solidFill>
                <a:latin typeface="Schibsted Grotesk Medium" pitchFamily="34" charset="0"/>
                <a:ea typeface="Schibsted Grotesk Medium" pitchFamily="34" charset="-122"/>
                <a:cs typeface="Schibsted Grotesk Medium" pitchFamily="34" charset="-120"/>
              </a:rPr>
              <a:t>LOYALTY &amp; MONETIZATION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11182" y="982135"/>
            <a:ext cx="10769331" cy="492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00" spc="-57" kern="100" dirty="0">
                <a:solidFill>
                  <a:srgbClr val="2B1D12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Subscription Impact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11182" y="1583134"/>
            <a:ext cx="3386549" cy="3982045"/>
          </a:xfrm>
          <a:prstGeom prst="roundRect">
            <a:avLst>
              <a:gd name="adj" fmla="val 6075"/>
            </a:avLst>
          </a:prstGeom>
          <a:solidFill>
            <a:srgbClr val="FCEBD2"/>
          </a:solidFill>
          <a:ln w="12700">
            <a:solidFill>
              <a:srgbClr val="B6E8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2476" y="1828006"/>
            <a:ext cx="314525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8851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SUBSCRIBERS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52476" y="2347801"/>
            <a:ext cx="2903961" cy="522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4200" spc="-84" kern="100" dirty="0">
                <a:solidFill>
                  <a:srgbClr val="588514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1,053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52476" y="2990850"/>
            <a:ext cx="290396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dirty="0">
                <a:solidFill>
                  <a:srgbClr val="3A2A1C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Customers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52476" y="3409236"/>
            <a:ext cx="2903961" cy="285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Avg Spend: </a:t>
            </a:r>
            <a:pPr algn="l" indent="0" marL="0">
              <a:lnSpc>
                <a:spcPct val="121000"/>
              </a:lnSpc>
              <a:buNone/>
            </a:pPr>
            <a:r>
              <a:rPr lang="en-US" sz="1550" b="1" dirty="0">
                <a:solidFill>
                  <a:srgbClr val="3A2A1C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$59.49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52476" y="4050189"/>
            <a:ext cx="2903961" cy="285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Total Revenue: </a:t>
            </a:r>
            <a:pPr algn="l" indent="0" marL="0">
              <a:lnSpc>
                <a:spcPct val="121000"/>
              </a:lnSpc>
              <a:buNone/>
            </a:pPr>
            <a:r>
              <a:rPr lang="en-US" sz="1550" b="1" dirty="0">
                <a:solidFill>
                  <a:srgbClr val="3A2A1C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$62,645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52476" y="4691142"/>
            <a:ext cx="2903961" cy="285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Repeat (&gt;5 buys): </a:t>
            </a:r>
            <a:pPr algn="l" indent="0" marL="0">
              <a:lnSpc>
                <a:spcPct val="121000"/>
              </a:lnSpc>
              <a:buNone/>
            </a:pPr>
            <a:r>
              <a:rPr lang="en-US" sz="1550" b="1" dirty="0">
                <a:solidFill>
                  <a:srgbClr val="3A2A1C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958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4402523" y="1583134"/>
            <a:ext cx="3386549" cy="3982045"/>
          </a:xfrm>
          <a:prstGeom prst="roundRect">
            <a:avLst>
              <a:gd name="adj" fmla="val 6075"/>
            </a:avLst>
          </a:prstGeom>
          <a:solidFill>
            <a:srgbClr val="FCEBD2"/>
          </a:solidFill>
          <a:ln w="12700">
            <a:solidFill>
              <a:srgbClr val="E5D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3817" y="1828006"/>
            <a:ext cx="314525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A6552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NON-SUBSCRIBERS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43817" y="2347801"/>
            <a:ext cx="2903961" cy="522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4200" spc="-84" kern="100" dirty="0">
                <a:solidFill>
                  <a:srgbClr val="3A2A1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2,847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4643817" y="2990850"/>
            <a:ext cx="290396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dirty="0">
                <a:solidFill>
                  <a:srgbClr val="3A2A1C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Customers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43817" y="3409236"/>
            <a:ext cx="2903961" cy="285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Avg Spend: </a:t>
            </a:r>
            <a:pPr algn="l" indent="0" marL="0">
              <a:lnSpc>
                <a:spcPct val="121000"/>
              </a:lnSpc>
              <a:buNone/>
            </a:pPr>
            <a:r>
              <a:rPr lang="en-US" sz="1550" b="1" dirty="0">
                <a:solidFill>
                  <a:srgbClr val="3A2A1C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$59.87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43817" y="4050189"/>
            <a:ext cx="2903961" cy="285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Total Revenue: </a:t>
            </a:r>
            <a:pPr algn="l" indent="0" marL="0">
              <a:lnSpc>
                <a:spcPct val="121000"/>
              </a:lnSpc>
              <a:buNone/>
            </a:pPr>
            <a:r>
              <a:rPr lang="en-US" sz="1550" b="1" dirty="0">
                <a:solidFill>
                  <a:srgbClr val="3A2A1C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$170,436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643817" y="4691142"/>
            <a:ext cx="2903961" cy="285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Repeat (&gt;5 buys): </a:t>
            </a:r>
            <a:pPr algn="l" indent="0" marL="0">
              <a:lnSpc>
                <a:spcPct val="121000"/>
              </a:lnSpc>
              <a:buNone/>
            </a:pPr>
            <a:r>
              <a:rPr lang="en-US" sz="1550" b="1" dirty="0">
                <a:solidFill>
                  <a:srgbClr val="3A2A1C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2,518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093865" y="1583134"/>
            <a:ext cx="3386549" cy="3982045"/>
          </a:xfrm>
          <a:prstGeom prst="roundRect">
            <a:avLst>
              <a:gd name="adj" fmla="val 6075"/>
            </a:avLst>
          </a:prstGeom>
          <a:solidFill>
            <a:srgbClr val="FCEBD2"/>
          </a:solidFill>
          <a:ln w="12700">
            <a:solidFill>
              <a:srgbClr val="B6E8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5159" y="1828006"/>
            <a:ext cx="314525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8851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RETENTION DYNAMICS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5159" y="2347801"/>
            <a:ext cx="2903961" cy="522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4200" spc="-84" kern="100" dirty="0">
                <a:solidFill>
                  <a:srgbClr val="588514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91.0%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8335159" y="2990850"/>
            <a:ext cx="290396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dirty="0">
                <a:solidFill>
                  <a:srgbClr val="3A2A1C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Subscriber Repeat Rate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335159" y="3409236"/>
            <a:ext cx="2903961" cy="1426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958 of 1,053 subscribers made over 5 repeat purchases, proving subscription acts as a retention anchor rather than a basket-size multiplier.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11182" y="5822752"/>
            <a:ext cx="697629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A6552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Average spend remains nearly identical ($59.49 vs $59.87), demonstrating that membership drives purchase cadence, not ticket inflation.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992267" y="5819180"/>
            <a:ext cx="3291400" cy="429220"/>
          </a:xfrm>
          <a:prstGeom prst="roundRect">
            <a:avLst>
              <a:gd name="adj" fmla="val 49999"/>
            </a:avLst>
          </a:prstGeom>
          <a:solidFill>
            <a:srgbClr val="B6E86A"/>
          </a:solidFill>
          <a:ln/>
        </p:spPr>
      </p:sp>
      <p:sp>
        <p:nvSpPr>
          <p:cNvPr id="25" name="Text 23"/>
          <p:cNvSpPr/>
          <p:nvPr/>
        </p:nvSpPr>
        <p:spPr>
          <a:xfrm>
            <a:off x="8170063" y="5920068"/>
            <a:ext cx="3310351" cy="251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91% subscriber repeat rate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52476" y="3865959"/>
            <a:ext cx="2903961" cy="12700"/>
          </a:xfrm>
          <a:prstGeom prst="rect">
            <a:avLst/>
          </a:prstGeom>
          <a:solidFill>
            <a:srgbClr val="E5D3B8"/>
          </a:solidFill>
          <a:ln/>
        </p:spPr>
      </p:sp>
      <p:sp>
        <p:nvSpPr>
          <p:cNvPr id="27" name="Shape 25"/>
          <p:cNvSpPr/>
          <p:nvPr/>
        </p:nvSpPr>
        <p:spPr>
          <a:xfrm>
            <a:off x="952476" y="4506913"/>
            <a:ext cx="2903961" cy="12700"/>
          </a:xfrm>
          <a:prstGeom prst="rect">
            <a:avLst/>
          </a:prstGeom>
          <a:solidFill>
            <a:srgbClr val="E5D3B8"/>
          </a:solidFill>
          <a:ln/>
        </p:spPr>
      </p:sp>
      <p:sp>
        <p:nvSpPr>
          <p:cNvPr id="28" name="Shape 26"/>
          <p:cNvSpPr/>
          <p:nvPr/>
        </p:nvSpPr>
        <p:spPr>
          <a:xfrm>
            <a:off x="4643817" y="3865959"/>
            <a:ext cx="2903961" cy="12700"/>
          </a:xfrm>
          <a:prstGeom prst="rect">
            <a:avLst/>
          </a:prstGeom>
          <a:solidFill>
            <a:srgbClr val="E5D3B8"/>
          </a:solidFill>
          <a:ln/>
        </p:spPr>
      </p:sp>
      <p:sp>
        <p:nvSpPr>
          <p:cNvPr id="29" name="Shape 27"/>
          <p:cNvSpPr/>
          <p:nvPr/>
        </p:nvSpPr>
        <p:spPr>
          <a:xfrm>
            <a:off x="4643817" y="4506913"/>
            <a:ext cx="2903961" cy="12700"/>
          </a:xfrm>
          <a:prstGeom prst="rect">
            <a:avLst/>
          </a:prstGeom>
          <a:solidFill>
            <a:srgbClr val="E5D3B8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961993"/>
            <a:ext cx="5912992" cy="492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00" spc="-57" kern="100" dirty="0">
                <a:solidFill>
                  <a:srgbClr val="2B1D12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Customer Segmentation</a:t>
            </a:r>
            <a:endParaRPr lang="en-US" sz="3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1664593"/>
            <a:ext cx="5912992" cy="4274939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439" y="2299494"/>
          <a:ext cx="3535671" cy="914400"/>
        </p:xfrm>
        <a:graphic>
          <a:graphicData uri="http://schemas.openxmlformats.org/drawingml/2006/table">
            <a:tbl>
              <a:tblPr/>
              <a:tblGrid>
                <a:gridCol w="1767835"/>
                <a:gridCol w="1767835"/>
              </a:tblGrid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7A6552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Segment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7A6552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Customers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Loyal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3,116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Returning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701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99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New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83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786" y="567055"/>
            <a:ext cx="5384665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spc="13" kern="100" dirty="0">
                <a:solidFill>
                  <a:srgbClr val="FF3368"/>
                </a:solidFill>
                <a:latin typeface="Schibsted Grotesk Medium" pitchFamily="34" charset="0"/>
                <a:ea typeface="Schibsted Grotesk Medium" pitchFamily="34" charset="-122"/>
                <a:cs typeface="Schibsted Grotesk Medium" pitchFamily="34" charset="-120"/>
              </a:rPr>
              <a:t>PROMOTION DEPENDENCY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58786" y="901998"/>
            <a:ext cx="497827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Discount-Dependent Items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58786" y="1471989"/>
            <a:ext cx="5384665" cy="285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Top products purchased using price promotions.</a:t>
            </a:r>
            <a:endParaRPr lang="en-US" sz="15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8786" y="1909663"/>
          <a:ext cx="4978276" cy="914400"/>
        </p:xfrm>
        <a:graphic>
          <a:graphicData uri="http://schemas.openxmlformats.org/drawingml/2006/table">
            <a:tbl>
              <a:tblPr/>
              <a:tblGrid>
                <a:gridCol w="2821016"/>
                <a:gridCol w="2157259"/>
              </a:tblGrid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7A6552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Product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7A6552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Discount Rate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Hat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F3368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50.00%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Sneakers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F3368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49.66%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Coat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49.07%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Sweater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48.17%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99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Pants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47.37%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58786" y="5453836"/>
            <a:ext cx="4978275" cy="570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Apparel and headwear show near-50% promo utilization, signaling habitual discount conditioning.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6654634" y="567055"/>
            <a:ext cx="5537061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spc="13" kern="100" dirty="0">
                <a:solidFill>
                  <a:srgbClr val="CC7F00"/>
                </a:solidFill>
                <a:latin typeface="Schibsted Grotesk Medium" pitchFamily="34" charset="0"/>
                <a:ea typeface="Schibsted Grotesk Medium" pitchFamily="34" charset="-122"/>
                <a:cs typeface="Schibsted Grotesk Medium" pitchFamily="34" charset="-120"/>
              </a:rPr>
              <a:t>AGE COHORT MONETIZATION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654634" y="901998"/>
            <a:ext cx="497827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2B1D12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Revenue by Age Group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654634" y="1471989"/>
            <a:ext cx="4978275" cy="570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550" dirty="0">
                <a:solidFill>
                  <a:srgbClr val="3A2A1C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Total gross revenue contribution across generational tiers.</a:t>
            </a:r>
            <a:endParaRPr lang="en-US" sz="155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54634" y="2195016"/>
          <a:ext cx="4978276" cy="914400"/>
        </p:xfrm>
        <a:graphic>
          <a:graphicData uri="http://schemas.openxmlformats.org/drawingml/2006/table">
            <a:tbl>
              <a:tblPr/>
              <a:tblGrid>
                <a:gridCol w="2821016"/>
                <a:gridCol w="2157259"/>
              </a:tblGrid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7A6552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Age Group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7A6552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Gross Revenue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Young Adult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CC7F00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$62,143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Middle-aged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$59,197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3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Adult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$55,978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99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Senior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3A2A1C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$55,763</a:t>
                      </a:r>
                      <a:endParaRPr lang="en-US" sz="18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52396" marR="152396" marT="114297" marB="114297" anchor="ctr">
                    <a:lnL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D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654634" y="5172770"/>
            <a:ext cx="3629331" cy="429220"/>
          </a:xfrm>
          <a:prstGeom prst="roundRect">
            <a:avLst>
              <a:gd name="adj" fmla="val 49999"/>
            </a:avLst>
          </a:prstGeom>
          <a:solidFill>
            <a:srgbClr val="FFB53B"/>
          </a:solidFill>
          <a:ln/>
        </p:spPr>
      </p:sp>
      <p:sp>
        <p:nvSpPr>
          <p:cNvPr id="12" name="Text 8"/>
          <p:cNvSpPr/>
          <p:nvPr/>
        </p:nvSpPr>
        <p:spPr>
          <a:xfrm>
            <a:off x="6832429" y="5273658"/>
            <a:ext cx="3883325" cy="251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Schibsted Grotesk SemiBold" pitchFamily="34" charset="0"/>
                <a:ea typeface="Schibsted Grotesk SemiBold" pitchFamily="34" charset="-122"/>
                <a:cs typeface="Schibsted Grotesk SemiBold" pitchFamily="34" charset="-120"/>
              </a:rPr>
              <a:t>Young Adults lead at $62,143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2026-10-14T15:12:07Z</dcterms:created>
  <dcterms:modified xsi:type="dcterms:W3CDTF">2026-10-14T15:12:07Z</dcterms:modified>
</cp:coreProperties>
</file>