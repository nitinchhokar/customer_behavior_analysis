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erif Display" pitchFamily="2" charset="0"/>
      <p:regular r:id="rId13"/>
    </p:embeddedFont>
    <p:embeddedFont>
      <p:font typeface="Schibsted Grotesk" panose="020B0604020202020204" charset="0"/>
      <p:regular r:id="rId14"/>
    </p:embeddedFont>
    <p:embeddedFont>
      <p:font typeface="Schibsted Grotesk Bold" panose="020B0604020202020204" charset="0"/>
      <p:regular r:id="rId15"/>
    </p:embeddedFont>
    <p:embeddedFont>
      <p:font typeface="Schibsted Grotesk Medium" panose="020B0604020202020204" charset="0"/>
      <p:regular r:id="rId16"/>
    </p:embeddedFont>
    <p:embeddedFont>
      <p:font typeface="Schibsted Grotesk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322B3-B9C4-43E7-BE9D-E8E6E6384C96}" v="2" dt="2026-10-14T18:29:05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u thakur" userId="30ea8e7ffdaa9399" providerId="LiveId" clId="{C19AF7C2-BA79-4F9E-B19C-234244ABDA29}"/>
    <pc:docChg chg="undo custSel modSld">
      <pc:chgData name="gopu thakur" userId="30ea8e7ffdaa9399" providerId="LiveId" clId="{C19AF7C2-BA79-4F9E-B19C-234244ABDA29}" dt="2026-10-14T18:30:12.852" v="46" actId="1076"/>
      <pc:docMkLst>
        <pc:docMk/>
      </pc:docMkLst>
      <pc:sldChg chg="addSp modSp mod">
        <pc:chgData name="gopu thakur" userId="30ea8e7ffdaa9399" providerId="LiveId" clId="{C19AF7C2-BA79-4F9E-B19C-234244ABDA29}" dt="2026-10-14T18:30:12.852" v="46" actId="1076"/>
        <pc:sldMkLst>
          <pc:docMk/>
          <pc:sldMk cId="0" sldId="256"/>
        </pc:sldMkLst>
        <pc:spChg chg="mod">
          <ac:chgData name="gopu thakur" userId="30ea8e7ffdaa9399" providerId="LiveId" clId="{C19AF7C2-BA79-4F9E-B19C-234244ABDA29}" dt="2026-10-14T18:29:05.151" v="29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gopu thakur" userId="30ea8e7ffdaa9399" providerId="LiveId" clId="{C19AF7C2-BA79-4F9E-B19C-234244ABDA29}" dt="2026-10-14T18:30:06.475" v="44" actId="1076"/>
          <ac:spMkLst>
            <pc:docMk/>
            <pc:sldMk cId="0" sldId="256"/>
            <ac:spMk id="8" creationId="{00000000-0000-0000-0000-000000000000}"/>
          </ac:spMkLst>
        </pc:spChg>
        <pc:spChg chg="add ord">
          <ac:chgData name="gopu thakur" userId="30ea8e7ffdaa9399" providerId="LiveId" clId="{C19AF7C2-BA79-4F9E-B19C-234244ABDA29}" dt="2026-10-14T18:29:55.134" v="41" actId="167"/>
          <ac:spMkLst>
            <pc:docMk/>
            <pc:sldMk cId="0" sldId="256"/>
            <ac:spMk id="12" creationId="{0AAA6F95-4F7A-09BA-7980-4FFF1B79A0E4}"/>
          </ac:spMkLst>
        </pc:spChg>
        <pc:picChg chg="mod">
          <ac:chgData name="gopu thakur" userId="30ea8e7ffdaa9399" providerId="LiveId" clId="{C19AF7C2-BA79-4F9E-B19C-234244ABDA29}" dt="2026-10-14T18:30:12.852" v="46" actId="1076"/>
          <ac:picMkLst>
            <pc:docMk/>
            <pc:sldMk cId="0" sldId="256"/>
            <ac:picMk id="7" creationId="{00000000-0000-0000-0000-000000000000}"/>
          </ac:picMkLst>
        </pc:picChg>
      </pc:sldChg>
      <pc:sldChg chg="addSp modSp mod">
        <pc:chgData name="gopu thakur" userId="30ea8e7ffdaa9399" providerId="LiveId" clId="{C19AF7C2-BA79-4F9E-B19C-234244ABDA29}" dt="2026-10-14T18:29:43.875" v="38" actId="167"/>
        <pc:sldMkLst>
          <pc:docMk/>
          <pc:sldMk cId="0" sldId="257"/>
        </pc:sldMkLst>
        <pc:spChg chg="add ord">
          <ac:chgData name="gopu thakur" userId="30ea8e7ffdaa9399" providerId="LiveId" clId="{C19AF7C2-BA79-4F9E-B19C-234244ABDA29}" dt="2026-10-14T18:29:43.875" v="38" actId="167"/>
          <ac:spMkLst>
            <pc:docMk/>
            <pc:sldMk cId="0" sldId="257"/>
            <ac:spMk id="14" creationId="{95BF7F26-71D6-85AD-3D9D-00F6E44F434B}"/>
          </ac:spMkLst>
        </pc:spChg>
        <pc:picChg chg="mod">
          <ac:chgData name="gopu thakur" userId="30ea8e7ffdaa9399" providerId="LiveId" clId="{C19AF7C2-BA79-4F9E-B19C-234244ABDA29}" dt="2026-10-14T18:29:35.572" v="37" actId="1076"/>
          <ac:picMkLst>
            <pc:docMk/>
            <pc:sldMk cId="0" sldId="257"/>
            <ac:picMk id="10" creationId="{00000000-0000-0000-0000-000000000000}"/>
          </ac:picMkLst>
        </pc:picChg>
      </pc:sldChg>
      <pc:sldChg chg="addSp delSp modSp mod">
        <pc:chgData name="gopu thakur" userId="30ea8e7ffdaa9399" providerId="LiveId" clId="{C19AF7C2-BA79-4F9E-B19C-234244ABDA29}" dt="2026-10-14T18:28:13.486" v="11" actId="208"/>
        <pc:sldMkLst>
          <pc:docMk/>
          <pc:sldMk cId="0" sldId="258"/>
        </pc:sldMkLst>
        <pc:spChg chg="add del mod">
          <ac:chgData name="gopu thakur" userId="30ea8e7ffdaa9399" providerId="LiveId" clId="{C19AF7C2-BA79-4F9E-B19C-234244ABDA29}" dt="2026-10-14T18:27:09.485" v="2" actId="478"/>
          <ac:spMkLst>
            <pc:docMk/>
            <pc:sldMk cId="0" sldId="258"/>
            <ac:spMk id="25" creationId="{D5EEF87C-57F4-80E2-82A8-336DD97432AD}"/>
          </ac:spMkLst>
        </pc:spChg>
        <pc:spChg chg="add mod">
          <ac:chgData name="gopu thakur" userId="30ea8e7ffdaa9399" providerId="LiveId" clId="{C19AF7C2-BA79-4F9E-B19C-234244ABDA29}" dt="2026-10-14T18:28:13.486" v="11" actId="208"/>
          <ac:spMkLst>
            <pc:docMk/>
            <pc:sldMk cId="0" sldId="258"/>
            <ac:spMk id="26" creationId="{7C32D20B-A391-00BD-FB59-80F8C9E87C60}"/>
          </ac:spMkLst>
        </pc:spChg>
      </pc:sldChg>
      <pc:sldChg chg="addSp modSp mod">
        <pc:chgData name="gopu thakur" userId="30ea8e7ffdaa9399" providerId="LiveId" clId="{C19AF7C2-BA79-4F9E-B19C-234244ABDA29}" dt="2026-10-14T18:29:05.151" v="30" actId="27636"/>
        <pc:sldMkLst>
          <pc:docMk/>
          <pc:sldMk cId="0" sldId="259"/>
        </pc:sldMkLst>
        <pc:spChg chg="mod">
          <ac:chgData name="gopu thakur" userId="30ea8e7ffdaa9399" providerId="LiveId" clId="{C19AF7C2-BA79-4F9E-B19C-234244ABDA29}" dt="2026-10-14T18:29:05.151" v="30" actId="27636"/>
          <ac:spMkLst>
            <pc:docMk/>
            <pc:sldMk cId="0" sldId="259"/>
            <ac:spMk id="3" creationId="{00000000-0000-0000-0000-000000000000}"/>
          </ac:spMkLst>
        </pc:spChg>
        <pc:spChg chg="add">
          <ac:chgData name="gopu thakur" userId="30ea8e7ffdaa9399" providerId="LiveId" clId="{C19AF7C2-BA79-4F9E-B19C-234244ABDA29}" dt="2026-10-14T18:28:23.722" v="12" actId="22"/>
          <ac:spMkLst>
            <pc:docMk/>
            <pc:sldMk cId="0" sldId="259"/>
            <ac:spMk id="16" creationId="{07CE3868-F030-61CA-E1FB-2430DE612F4D}"/>
          </ac:spMkLst>
        </pc:spChg>
      </pc:sldChg>
      <pc:sldChg chg="addSp modSp mod">
        <pc:chgData name="gopu thakur" userId="30ea8e7ffdaa9399" providerId="LiveId" clId="{C19AF7C2-BA79-4F9E-B19C-234244ABDA29}" dt="2026-10-14T18:29:18.293" v="33" actId="1076"/>
        <pc:sldMkLst>
          <pc:docMk/>
          <pc:sldMk cId="0" sldId="260"/>
        </pc:sldMkLst>
        <pc:spChg chg="mod">
          <ac:chgData name="gopu thakur" userId="30ea8e7ffdaa9399" providerId="LiveId" clId="{C19AF7C2-BA79-4F9E-B19C-234244ABDA29}" dt="2026-10-14T18:29:05.120" v="27" actId="27636"/>
          <ac:spMkLst>
            <pc:docMk/>
            <pc:sldMk cId="0" sldId="260"/>
            <ac:spMk id="2" creationId="{00000000-0000-0000-0000-000000000000}"/>
          </ac:spMkLst>
        </pc:spChg>
        <pc:spChg chg="add ord">
          <ac:chgData name="gopu thakur" userId="30ea8e7ffdaa9399" providerId="LiveId" clId="{C19AF7C2-BA79-4F9E-B19C-234244ABDA29}" dt="2026-10-14T18:29:15.720" v="32" actId="171"/>
          <ac:spMkLst>
            <pc:docMk/>
            <pc:sldMk cId="0" sldId="260"/>
            <ac:spMk id="7" creationId="{A2AD32A6-2EF8-43E9-994E-E0ADCED3A637}"/>
          </ac:spMkLst>
        </pc:spChg>
        <pc:spChg chg="add mod">
          <ac:chgData name="gopu thakur" userId="30ea8e7ffdaa9399" providerId="LiveId" clId="{C19AF7C2-BA79-4F9E-B19C-234244ABDA29}" dt="2026-10-14T18:29:05.089" v="26" actId="767"/>
          <ac:spMkLst>
            <pc:docMk/>
            <pc:sldMk cId="0" sldId="260"/>
            <ac:spMk id="8" creationId="{413BED8A-603E-6745-F13F-C6D760DD8080}"/>
          </ac:spMkLst>
        </pc:spChg>
        <pc:picChg chg="mod">
          <ac:chgData name="gopu thakur" userId="30ea8e7ffdaa9399" providerId="LiveId" clId="{C19AF7C2-BA79-4F9E-B19C-234244ABDA29}" dt="2026-10-14T18:29:18.293" v="33" actId="1076"/>
          <ac:picMkLst>
            <pc:docMk/>
            <pc:sldMk cId="0" sldId="260"/>
            <ac:picMk id="5" creationId="{00000000-0000-0000-0000-000000000000}"/>
          </ac:picMkLst>
        </pc:picChg>
      </pc:sldChg>
      <pc:sldChg chg="addSp mod">
        <pc:chgData name="gopu thakur" userId="30ea8e7ffdaa9399" providerId="LiveId" clId="{C19AF7C2-BA79-4F9E-B19C-234244ABDA29}" dt="2026-10-14T18:28:30.521" v="13" actId="22"/>
        <pc:sldMkLst>
          <pc:docMk/>
          <pc:sldMk cId="0" sldId="261"/>
        </pc:sldMkLst>
        <pc:spChg chg="add">
          <ac:chgData name="gopu thakur" userId="30ea8e7ffdaa9399" providerId="LiveId" clId="{C19AF7C2-BA79-4F9E-B19C-234244ABDA29}" dt="2026-10-14T18:28:30.521" v="13" actId="22"/>
          <ac:spMkLst>
            <pc:docMk/>
            <pc:sldMk cId="0" sldId="261"/>
            <ac:spMk id="4" creationId="{98637370-42E4-966B-25EF-A092D8C09296}"/>
          </ac:spMkLst>
        </pc:spChg>
      </pc:sldChg>
      <pc:sldChg chg="addSp modSp mod">
        <pc:chgData name="gopu thakur" userId="30ea8e7ffdaa9399" providerId="LiveId" clId="{C19AF7C2-BA79-4F9E-B19C-234244ABDA29}" dt="2026-10-14T18:29:05.151" v="28" actId="27636"/>
        <pc:sldMkLst>
          <pc:docMk/>
          <pc:sldMk cId="0" sldId="262"/>
        </pc:sldMkLst>
        <pc:spChg chg="mod">
          <ac:chgData name="gopu thakur" userId="30ea8e7ffdaa9399" providerId="LiveId" clId="{C19AF7C2-BA79-4F9E-B19C-234244ABDA29}" dt="2026-10-14T18:29:05.151" v="28" actId="27636"/>
          <ac:spMkLst>
            <pc:docMk/>
            <pc:sldMk cId="0" sldId="262"/>
            <ac:spMk id="3" creationId="{00000000-0000-0000-0000-000000000000}"/>
          </ac:spMkLst>
        </pc:spChg>
        <pc:spChg chg="add">
          <ac:chgData name="gopu thakur" userId="30ea8e7ffdaa9399" providerId="LiveId" clId="{C19AF7C2-BA79-4F9E-B19C-234244ABDA29}" dt="2026-10-14T18:28:34.120" v="14" actId="22"/>
          <ac:spMkLst>
            <pc:docMk/>
            <pc:sldMk cId="0" sldId="262"/>
            <ac:spMk id="13" creationId="{25682925-F5E4-0075-EF2A-9A65B8A71F8E}"/>
          </ac:spMkLst>
        </pc:spChg>
      </pc:sldChg>
      <pc:sldChg chg="addSp mod">
        <pc:chgData name="gopu thakur" userId="30ea8e7ffdaa9399" providerId="LiveId" clId="{C19AF7C2-BA79-4F9E-B19C-234244ABDA29}" dt="2026-10-14T18:28:37.137" v="15" actId="22"/>
        <pc:sldMkLst>
          <pc:docMk/>
          <pc:sldMk cId="0" sldId="263"/>
        </pc:sldMkLst>
        <pc:spChg chg="add">
          <ac:chgData name="gopu thakur" userId="30ea8e7ffdaa9399" providerId="LiveId" clId="{C19AF7C2-BA79-4F9E-B19C-234244ABDA29}" dt="2026-10-14T18:28:37.137" v="15" actId="22"/>
          <ac:spMkLst>
            <pc:docMk/>
            <pc:sldMk cId="0" sldId="263"/>
            <ac:spMk id="31" creationId="{536506F7-2AFD-E3A4-8542-6415BE2E4314}"/>
          </ac:spMkLst>
        </pc:spChg>
      </pc:sldChg>
      <pc:sldChg chg="addSp mod">
        <pc:chgData name="gopu thakur" userId="30ea8e7ffdaa9399" providerId="LiveId" clId="{C19AF7C2-BA79-4F9E-B19C-234244ABDA29}" dt="2026-10-14T18:28:39.802" v="16" actId="22"/>
        <pc:sldMkLst>
          <pc:docMk/>
          <pc:sldMk cId="0" sldId="264"/>
        </pc:sldMkLst>
        <pc:spChg chg="add">
          <ac:chgData name="gopu thakur" userId="30ea8e7ffdaa9399" providerId="LiveId" clId="{C19AF7C2-BA79-4F9E-B19C-234244ABDA29}" dt="2026-10-14T18:28:39.802" v="16" actId="22"/>
          <ac:spMkLst>
            <pc:docMk/>
            <pc:sldMk cId="0" sldId="264"/>
            <ac:spMk id="5" creationId="{AD29FFE2-935D-58D0-CA28-80423BD41035}"/>
          </ac:spMkLst>
        </pc:spChg>
      </pc:sldChg>
      <pc:sldChg chg="addSp mod">
        <pc:chgData name="gopu thakur" userId="30ea8e7ffdaa9399" providerId="LiveId" clId="{C19AF7C2-BA79-4F9E-B19C-234244ABDA29}" dt="2026-10-14T18:28:42.934" v="17" actId="22"/>
        <pc:sldMkLst>
          <pc:docMk/>
          <pc:sldMk cId="0" sldId="265"/>
        </pc:sldMkLst>
        <pc:spChg chg="add">
          <ac:chgData name="gopu thakur" userId="30ea8e7ffdaa9399" providerId="LiveId" clId="{C19AF7C2-BA79-4F9E-B19C-234244ABDA29}" dt="2026-10-14T18:28:42.934" v="17" actId="22"/>
          <ac:spMkLst>
            <pc:docMk/>
            <pc:sldMk cId="0" sldId="265"/>
            <ac:spMk id="13" creationId="{7A697307-39E9-3DB9-A07C-02CB232F4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26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scope of the customer shopping analysis covering 3,900 transactions. Highlight the core goal: translating purchase patterns into commercial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size and cleanliness of the source dataset: 3,900 records across 18 features, with only 37 missing ratings requiring imputation.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preparation phases: loading raw files, exploratory profiling, category-median imputation, feature engineering, and database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male revenue dominance ($157,890 vs $75,191) and explain the opportunity to close the gap through female-targeted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the 839 smart shoppers who used promo codes yet beat the average order amount. Recommend premium thresholded discounts to preserve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Express: $60.48 average purchase. Standard: $58.46 average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subscriber dynamics: average ticket is virtually identical ($59.49 vs $59.87), but 91% of subscribers become heavy repeat buyers (over 5 orders).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Synthesize product discount reliance (Hats 50%, Sneakers 49.66%) with revenue across age tiers (Young Adults leading at $62,143), guiding promotional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AA6F95-4F7A-09BA-7980-4FFF1B79A0E4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11182" y="567055"/>
            <a:ext cx="660383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C7F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RETAIL INTELLIGENCE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952671"/>
            <a:ext cx="5994250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78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Customer Shopping</a:t>
            </a:r>
            <a:endParaRPr lang="en-US" sz="5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78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Behavior Analysis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11182" y="2517477"/>
            <a:ext cx="5994250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Uncovering insights from 3,900 purchases to guide strategic business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1182" y="5920780"/>
            <a:ext cx="3548569" cy="429220"/>
          </a:xfrm>
          <a:prstGeom prst="roundRect">
            <a:avLst>
              <a:gd name="adj" fmla="val 49999"/>
            </a:avLst>
          </a:prstGeom>
          <a:solidFill>
            <a:srgbClr val="FFB53B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6021668"/>
            <a:ext cx="3802563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3,900 transactions analyzed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76838" y="304800"/>
            <a:ext cx="2031949" cy="2032000"/>
          </a:xfrm>
          <a:custGeom>
            <a:avLst/>
            <a:gdLst/>
            <a:ahLst/>
            <a:cxnLst/>
            <a:rect l="l" t="t" r="r" b="b"/>
            <a:pathLst>
              <a:path w="2031949" h="2032000">
                <a:moveTo>
                  <a:pt x="1015975" y="0"/>
                </a:moveTo>
                <a:lnTo>
                  <a:pt x="1231361" y="211328"/>
                </a:lnTo>
                <a:lnTo>
                  <a:pt x="1523962" y="136144"/>
                </a:lnTo>
                <a:lnTo>
                  <a:pt x="1605240" y="426720"/>
                </a:lnTo>
                <a:lnTo>
                  <a:pt x="1895809" y="508000"/>
                </a:lnTo>
                <a:lnTo>
                  <a:pt x="1820626" y="800608"/>
                </a:lnTo>
                <a:lnTo>
                  <a:pt x="2031949" y="1016000"/>
                </a:lnTo>
                <a:lnTo>
                  <a:pt x="1820626" y="1231392"/>
                </a:lnTo>
                <a:lnTo>
                  <a:pt x="1895809" y="1524000"/>
                </a:lnTo>
                <a:lnTo>
                  <a:pt x="1605240" y="1605280"/>
                </a:lnTo>
                <a:lnTo>
                  <a:pt x="1523962" y="1895856"/>
                </a:lnTo>
                <a:lnTo>
                  <a:pt x="1231361" y="1820672"/>
                </a:lnTo>
                <a:lnTo>
                  <a:pt x="1015975" y="2032000"/>
                </a:lnTo>
                <a:lnTo>
                  <a:pt x="800588" y="1820672"/>
                </a:lnTo>
                <a:lnTo>
                  <a:pt x="507987" y="1895856"/>
                </a:lnTo>
                <a:lnTo>
                  <a:pt x="426709" y="1605280"/>
                </a:lnTo>
                <a:lnTo>
                  <a:pt x="136141" y="1524000"/>
                </a:lnTo>
                <a:lnTo>
                  <a:pt x="211323" y="1231392"/>
                </a:lnTo>
                <a:lnTo>
                  <a:pt x="0" y="1016000"/>
                </a:lnTo>
                <a:lnTo>
                  <a:pt x="211323" y="800608"/>
                </a:lnTo>
                <a:lnTo>
                  <a:pt x="136141" y="508000"/>
                </a:lnTo>
                <a:lnTo>
                  <a:pt x="426709" y="426720"/>
                </a:lnTo>
                <a:lnTo>
                  <a:pt x="507987" y="136144"/>
                </a:lnTo>
                <a:lnTo>
                  <a:pt x="800588" y="211328"/>
                </a:lnTo>
                <a:close/>
              </a:path>
            </a:pathLst>
          </a:custGeom>
          <a:solidFill>
            <a:srgbClr val="FFB53B"/>
          </a:solidFill>
          <a:ln/>
        </p:spPr>
      </p:sp>
      <p:sp>
        <p:nvSpPr>
          <p:cNvPr id="9" name="Text 6"/>
          <p:cNvSpPr/>
          <p:nvPr/>
        </p:nvSpPr>
        <p:spPr>
          <a:xfrm>
            <a:off x="6229194" y="974725"/>
            <a:ext cx="252723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kern="100" spc="-56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3,900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229194" y="1566926"/>
            <a:ext cx="252723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200" kern="100" spc="-24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records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BF7F26-71D6-85AD-3D9D-00F6E44F434B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11182" y="668655"/>
            <a:ext cx="660383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C7F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1032935"/>
            <a:ext cx="6045049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Dataset Overview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894185"/>
            <a:ext cx="60450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3,900 rows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82" y="2464098"/>
            <a:ext cx="604504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of purchase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182" y="3396952"/>
            <a:ext cx="60450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18 columns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182" y="3966865"/>
            <a:ext cx="604504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covering demographics, purchase details and shopping behavior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5231209"/>
            <a:ext cx="60450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37 missing values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82" y="5801122"/>
            <a:ext cx="604504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all in Review Rating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322" y="-38101"/>
            <a:ext cx="487667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1182" y="3082727"/>
            <a:ext cx="6045049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12" name="Shape 9"/>
          <p:cNvSpPr/>
          <p:nvPr/>
        </p:nvSpPr>
        <p:spPr>
          <a:xfrm>
            <a:off x="711182" y="4916984"/>
            <a:ext cx="6045049" cy="12700"/>
          </a:xfrm>
          <a:prstGeom prst="rect">
            <a:avLst/>
          </a:prstGeom>
          <a:solidFill>
            <a:srgbClr val="E5D3B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17855"/>
            <a:ext cx="1137891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C7F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982135"/>
            <a:ext cx="1076933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Data Preparation Process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633934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B53B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1182" y="1954014"/>
            <a:ext cx="1909913" cy="1905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166243"/>
            <a:ext cx="191001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Data Loading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1182" y="2660829"/>
            <a:ext cx="1910012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Imported raw CSV transaction files directly via Python pandas dataframes.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925888" y="1633934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B53B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5888" y="1954014"/>
            <a:ext cx="1910112" cy="1905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10" name="Text 8"/>
          <p:cNvSpPr/>
          <p:nvPr/>
        </p:nvSpPr>
        <p:spPr>
          <a:xfrm>
            <a:off x="2925888" y="2166243"/>
            <a:ext cx="19101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Initial Exploration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25888" y="2962454"/>
            <a:ext cx="1910112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Validated structural schema, type integrity, and baseline summary statistics.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40692" y="1633934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B53B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40692" y="1954014"/>
            <a:ext cx="1910112" cy="1905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40692" y="2166243"/>
            <a:ext cx="1910211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Missing Handling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40692" y="2962454"/>
            <a:ext cx="1910211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Imputed 37 missing Review Ratings using the median of each product category.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55596" y="1633934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B53B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55596" y="1954014"/>
            <a:ext cx="1910112" cy="1905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55596" y="2166243"/>
            <a:ext cx="191011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55596" y="2962454"/>
            <a:ext cx="1910112" cy="199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Derived age_group and purchase_frequency_days; formatted snake_case and removed redundant promo_code_used.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570401" y="1633934"/>
            <a:ext cx="8939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B53B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70401" y="1954014"/>
            <a:ext cx="1909913" cy="1905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22" name="Text 20"/>
          <p:cNvSpPr/>
          <p:nvPr/>
        </p:nvSpPr>
        <p:spPr>
          <a:xfrm>
            <a:off x="9570401" y="2166243"/>
            <a:ext cx="191001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DB Integration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570401" y="2660829"/>
            <a:ext cx="1910012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Loaded curated tabular models into PostgreSQL for production querying.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1182" y="6037659"/>
            <a:ext cx="77214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ETL pipeline built in Python 3.11 and PostgreSQL · validated against 3,900 transaction records.</a:t>
            </a:r>
            <a:endParaRPr lang="en-US" sz="125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32D20B-A391-00BD-FB59-80F8C9E87C60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79681"/>
            <a:ext cx="691884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C7F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DEMOGRAPHIC REVENUE SPLIT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43960"/>
            <a:ext cx="6309262" cy="1476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Male customers generate more than twice the revenue of female customers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29409"/>
            <a:ext cx="6309262" cy="30284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75734"/>
            <a:ext cx="69188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Total gross revenue across 3,900 purchases: $233,081.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442709" y="904974"/>
            <a:ext cx="2814468" cy="429220"/>
          </a:xfrm>
          <a:prstGeom prst="roundRect">
            <a:avLst>
              <a:gd name="adj" fmla="val 49999"/>
            </a:avLst>
          </a:prstGeom>
          <a:solidFill>
            <a:srgbClr val="FFB53B"/>
          </a:solidFill>
          <a:ln/>
        </p:spPr>
      </p:sp>
      <p:sp>
        <p:nvSpPr>
          <p:cNvPr id="7" name="Text 4"/>
          <p:cNvSpPr/>
          <p:nvPr/>
        </p:nvSpPr>
        <p:spPr>
          <a:xfrm>
            <a:off x="8620505" y="1005863"/>
            <a:ext cx="30684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2.1x revenue multiple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42709" y="1540966"/>
            <a:ext cx="31394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MALE SEGMENT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42709" y="2052316"/>
            <a:ext cx="313940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100" spc="-68" dirty="0">
                <a:solidFill>
                  <a:srgbClr val="CC7F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$157,890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42709" y="2711430"/>
            <a:ext cx="3139401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67.7% of total portfolio revenue, driven by higher transaction volume.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42709" y="3926582"/>
            <a:ext cx="31394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FEMALE SEGMENT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42709" y="4437932"/>
            <a:ext cx="313940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100" spc="-68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$75,191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442709" y="5097046"/>
            <a:ext cx="3139401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32.3% of portfolio revenue; clear expansion opportunity via tailored marketing.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442709" y="3738860"/>
            <a:ext cx="3139401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CE3868-F030-61CA-E1FB-2430DE612F4D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5361"/>
            <a:ext cx="6857828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78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High-Value Discount Users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11182" y="2341602"/>
            <a:ext cx="6857828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000" kern="100" spc="-120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839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11182" y="3290888"/>
            <a:ext cx="6857828" cy="216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950"/>
              </a:spcAft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customers used a discount yet spent above the average purchase amount</a:t>
            </a:r>
            <a:endParaRPr lang="en-US" sz="1800" dirty="0"/>
          </a:p>
          <a:p>
            <a:pPr marL="0" indent="0" algn="l">
              <a:lnSpc>
                <a:spcPct val="121000"/>
              </a:lnSpc>
              <a:spcAft>
                <a:spcPts val="1950"/>
              </a:spcAft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Smart shoppers: high spenders who maximize value with discounts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Opportunity: target these customers with exclusive offers</a:t>
            </a:r>
            <a:endParaRPr lang="en-US" sz="1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AD32A6-2EF8-43E9-994E-E0ADCED3A637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02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414828"/>
            <a:ext cx="1076933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Top-Rated Products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2146002"/>
          <a:ext cx="10769330" cy="3391607"/>
        </p:xfrm>
        <a:graphic>
          <a:graphicData uri="http://schemas.openxmlformats.org/drawingml/2006/table">
            <a:tbl>
              <a:tblPr/>
              <a:tblGrid>
                <a:gridCol w="6676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Product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Rating (out of 5.0)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Gloves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3.86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Sandals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3.84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Boots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3.82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Hat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3.80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Skirt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3.78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637370-42E4-966B-25EF-A092D8C09296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1320177"/>
            <a:ext cx="5994250" cy="20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78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Express shipping customers spend slightly more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5486263" y="3558580"/>
            <a:ext cx="2844729" cy="3810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5" name="Text 2"/>
          <p:cNvSpPr/>
          <p:nvPr/>
        </p:nvSpPr>
        <p:spPr>
          <a:xfrm>
            <a:off x="5714857" y="3888399"/>
            <a:ext cx="2387540" cy="547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88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$60.48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714857" y="4548287"/>
            <a:ext cx="238754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38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Express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714857" y="5042793"/>
            <a:ext cx="2616135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average purchase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35784" y="3558580"/>
            <a:ext cx="2844729" cy="38100"/>
          </a:xfrm>
          <a:prstGeom prst="rect">
            <a:avLst/>
          </a:prstGeom>
          <a:solidFill>
            <a:srgbClr val="FFB53B"/>
          </a:solidFill>
          <a:ln/>
        </p:spPr>
      </p:sp>
      <p:sp>
        <p:nvSpPr>
          <p:cNvPr id="9" name="Text 6"/>
          <p:cNvSpPr/>
          <p:nvPr/>
        </p:nvSpPr>
        <p:spPr>
          <a:xfrm>
            <a:off x="8864378" y="3888399"/>
            <a:ext cx="2387540" cy="547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88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$58.46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864378" y="4548287"/>
            <a:ext cx="238754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38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Standard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864378" y="5042793"/>
            <a:ext cx="2616135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average purchase</a:t>
            </a:r>
            <a:endParaRPr lang="en-US" sz="1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682925-F5E4-0075-EF2A-9A65B8A71F8E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17855"/>
            <a:ext cx="1137891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588514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LOYALTY &amp; MONETIZATION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982135"/>
            <a:ext cx="1076933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Subscription Impact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11182" y="1583134"/>
            <a:ext cx="3386549" cy="3982045"/>
          </a:xfrm>
          <a:prstGeom prst="roundRect">
            <a:avLst>
              <a:gd name="adj" fmla="val 6075"/>
            </a:avLst>
          </a:prstGeom>
          <a:solidFill>
            <a:srgbClr val="FCEBD2"/>
          </a:solidFill>
          <a:ln w="12700">
            <a:solidFill>
              <a:srgbClr val="B6E8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476" y="1828006"/>
            <a:ext cx="31452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885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SUBSCRIBERS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2476" y="2347801"/>
            <a:ext cx="2903961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200" kern="100" spc="-84" dirty="0">
                <a:solidFill>
                  <a:srgbClr val="588514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1,053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476" y="2990850"/>
            <a:ext cx="290396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A2A1C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Customers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52476" y="3409236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Avg Spend: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$59.49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52476" y="4050189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Total Revenue: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$62,645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52476" y="4691142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Repeat (&gt;5 buys):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958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02523" y="1583134"/>
            <a:ext cx="3386549" cy="3982045"/>
          </a:xfrm>
          <a:prstGeom prst="roundRect">
            <a:avLst>
              <a:gd name="adj" fmla="val 6075"/>
            </a:avLst>
          </a:prstGeom>
          <a:solidFill>
            <a:srgbClr val="FCEBD2"/>
          </a:solidFill>
          <a:ln w="12700">
            <a:solidFill>
              <a:srgbClr val="E5D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3817" y="1828006"/>
            <a:ext cx="31452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NON-SUBSCRIBERS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43817" y="2347801"/>
            <a:ext cx="2903961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200" kern="100" spc="-84" dirty="0">
                <a:solidFill>
                  <a:srgbClr val="3A2A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2,847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43817" y="2990850"/>
            <a:ext cx="290396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A2A1C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Customers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43817" y="3409236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Avg Spend: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$59.87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43817" y="4050189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Total Revenue: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$170,436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43817" y="4691142"/>
            <a:ext cx="290396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Repeat (&gt;5 buys): </a:t>
            </a:r>
            <a:r>
              <a:rPr lang="en-US" sz="1550" b="1" dirty="0">
                <a:solidFill>
                  <a:srgbClr val="3A2A1C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2,518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93865" y="1583134"/>
            <a:ext cx="3386549" cy="3982045"/>
          </a:xfrm>
          <a:prstGeom prst="roundRect">
            <a:avLst>
              <a:gd name="adj" fmla="val 6075"/>
            </a:avLst>
          </a:prstGeom>
          <a:solidFill>
            <a:srgbClr val="FCEBD2"/>
          </a:solidFill>
          <a:ln w="12700">
            <a:solidFill>
              <a:srgbClr val="B6E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5159" y="1828006"/>
            <a:ext cx="31452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885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RETENTION DYNAMICS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35159" y="2347801"/>
            <a:ext cx="2903961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200" kern="100" spc="-84" dirty="0">
                <a:solidFill>
                  <a:srgbClr val="588514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91.0%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335159" y="2990850"/>
            <a:ext cx="290396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A2A1C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Subscriber Repeat Rate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35159" y="3409236"/>
            <a:ext cx="2903961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958 of 1,053 subscribers made over 5 repeat purchases, proving subscription acts as a retention anchor rather than a basket-size multiplier.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1182" y="5822752"/>
            <a:ext cx="69762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55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Average spend remains nearly identical ($59.49 vs $59.87), demonstrating that membership drives purchase cadence, not ticket inflation.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92267" y="5819180"/>
            <a:ext cx="3291400" cy="429220"/>
          </a:xfrm>
          <a:prstGeom prst="roundRect">
            <a:avLst>
              <a:gd name="adj" fmla="val 49999"/>
            </a:avLst>
          </a:prstGeom>
          <a:solidFill>
            <a:srgbClr val="B6E86A"/>
          </a:solidFill>
          <a:ln/>
        </p:spPr>
      </p:sp>
      <p:sp>
        <p:nvSpPr>
          <p:cNvPr id="25" name="Text 23"/>
          <p:cNvSpPr/>
          <p:nvPr/>
        </p:nvSpPr>
        <p:spPr>
          <a:xfrm>
            <a:off x="8170063" y="5920068"/>
            <a:ext cx="3310351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91% subscriber repeat rate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476" y="3865959"/>
            <a:ext cx="2903961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476" y="4506913"/>
            <a:ext cx="2903961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4643817" y="3865959"/>
            <a:ext cx="2903961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4643817" y="4506913"/>
            <a:ext cx="2903961" cy="12700"/>
          </a:xfrm>
          <a:prstGeom prst="rect">
            <a:avLst/>
          </a:prstGeom>
          <a:solidFill>
            <a:srgbClr val="E5D3B8"/>
          </a:solidFill>
          <a:ln/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6506F7-2AFD-E3A4-8542-6415BE2E4314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61993"/>
            <a:ext cx="5912992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2B1D1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Customer Segmentation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64593"/>
            <a:ext cx="5912992" cy="4274939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439" y="2299494"/>
          <a:ext cx="3535670" cy="2258955"/>
        </p:xfrm>
        <a:graphic>
          <a:graphicData uri="http://schemas.openxmlformats.org/drawingml/2006/table">
            <a:tbl>
              <a:tblPr/>
              <a:tblGrid>
                <a:gridCol w="176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Segment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Customers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Loyal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3,116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Returning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701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New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83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29FFE2-935D-58D0-CA28-80423BD41035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67055"/>
            <a:ext cx="53846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3368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PROMOTION DEPENDENCY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901998"/>
            <a:ext cx="4978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Discount-Dependent Items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86" y="1471989"/>
            <a:ext cx="538466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Top products purchased using price promotions.</a:t>
            </a:r>
            <a:endParaRPr lang="en-US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909663"/>
          <a:ext cx="4978275" cy="3391607"/>
        </p:xfrm>
        <a:graphic>
          <a:graphicData uri="http://schemas.openxmlformats.org/drawingml/2006/table">
            <a:tbl>
              <a:tblPr/>
              <a:tblGrid>
                <a:gridCol w="282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Product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Discount Rate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Hat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3368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50.00%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Sneakers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3368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49.66%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Coat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49.07%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Sweater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48.17%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Pants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47.37%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786" y="5453836"/>
            <a:ext cx="497827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Apparel and headwear show near-50% promo utilization, signaling habitual discount conditioning.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54634" y="567055"/>
            <a:ext cx="553706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C7F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AGE COHORT MONETIZATION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54634" y="901998"/>
            <a:ext cx="4978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B1D12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Revenue by Age Group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54634" y="1471989"/>
            <a:ext cx="497827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3A2A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Total gross revenue contribution across generational tiers.</a:t>
            </a:r>
            <a:endParaRPr lang="en-US" sz="15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4634" y="2195016"/>
          <a:ext cx="4978275" cy="2825281"/>
        </p:xfrm>
        <a:graphic>
          <a:graphicData uri="http://schemas.openxmlformats.org/drawingml/2006/table">
            <a:tbl>
              <a:tblPr/>
              <a:tblGrid>
                <a:gridCol w="282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Age Group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7A6552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Gross Revenue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Young Adult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CC7F00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$62,143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Middle-aged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$59,197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Adult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$55,978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Senior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3A2A1C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$55,763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7"/>
          <p:cNvSpPr/>
          <p:nvPr/>
        </p:nvSpPr>
        <p:spPr>
          <a:xfrm>
            <a:off x="6654634" y="5172770"/>
            <a:ext cx="3629331" cy="429220"/>
          </a:xfrm>
          <a:prstGeom prst="roundRect">
            <a:avLst>
              <a:gd name="adj" fmla="val 49999"/>
            </a:avLst>
          </a:prstGeom>
          <a:solidFill>
            <a:srgbClr val="FFB53B"/>
          </a:solidFill>
          <a:ln/>
        </p:spPr>
      </p:sp>
      <p:sp>
        <p:nvSpPr>
          <p:cNvPr id="12" name="Text 8"/>
          <p:cNvSpPr/>
          <p:nvPr/>
        </p:nvSpPr>
        <p:spPr>
          <a:xfrm>
            <a:off x="6832429" y="5273658"/>
            <a:ext cx="388332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Young Adults lead at $62,143</a:t>
            </a:r>
            <a:endParaRPr lang="en-US" sz="1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697307-39E9-3DB9-A07C-02CB232F4FB8}"/>
              </a:ext>
            </a:extLst>
          </p:cNvPr>
          <p:cNvSpPr/>
          <p:nvPr/>
        </p:nvSpPr>
        <p:spPr>
          <a:xfrm>
            <a:off x="11019453" y="6567973"/>
            <a:ext cx="1172547" cy="251926"/>
          </a:xfrm>
          <a:prstGeom prst="roundRect">
            <a:avLst>
              <a:gd name="adj" fmla="val 50000"/>
            </a:avLst>
          </a:prstGeom>
          <a:solidFill>
            <a:srgbClr val="FFFBF3"/>
          </a:solidFill>
          <a:ln>
            <a:solidFill>
              <a:srgbClr val="FFFB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675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Schibsted Grotesk</vt:lpstr>
      <vt:lpstr>Schibsted Grotesk SemiBold</vt:lpstr>
      <vt:lpstr>Schibsted Grotesk Medium</vt:lpstr>
      <vt:lpstr>Schibsted Grotesk Bold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gopu thakur</cp:lastModifiedBy>
  <cp:revision>1</cp:revision>
  <dcterms:created xsi:type="dcterms:W3CDTF">2026-10-14T15:12:07Z</dcterms:created>
  <dcterms:modified xsi:type="dcterms:W3CDTF">2026-10-14T18:30:13Z</dcterms:modified>
</cp:coreProperties>
</file>